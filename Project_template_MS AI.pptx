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571" r:id="rId3"/>
    <p:sldId id="572" r:id="rId4"/>
    <p:sldId id="573" r:id="rId5"/>
    <p:sldId id="580" r:id="rId6"/>
    <p:sldId id="581" r:id="rId7"/>
    <p:sldId id="574" r:id="rId8"/>
    <p:sldId id="575" r:id="rId9"/>
    <p:sldId id="582" r:id="rId10"/>
    <p:sldId id="576" r:id="rId11"/>
    <p:sldId id="583" r:id="rId12"/>
    <p:sldId id="577" r:id="rId13"/>
    <p:sldId id="579" r:id="rId14"/>
    <p:sldId id="578" r:id="rId15"/>
    <p:sldId id="570" r:id="rId1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20B836-56D0-97DC-068F-01B3A795833D}" v="107" dt="2025-04-28T10:32:37.732"/>
    <p1510:client id="{22C22A61-C23B-4AFE-81E6-4E7076213851}" v="1" dt="2025-04-28T10:44:04.838"/>
    <p1510:client id="{41ED53A8-5329-C747-A241-46CEB6D4E255}" v="58" dt="2025-04-29T04:53:52.575"/>
    <p1510:client id="{65706ED1-670B-4719-B8CB-BA21F8D40372}" v="31" dt="2025-04-29T05:33:41.586"/>
    <p1510:client id="{9567BC2E-213D-4409-89B3-6A653ECA53D9}" v="15" dt="2025-04-29T08:24:08.978"/>
  </p1510:revLst>
</p1510:revInfo>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0792A7-0600-4F98-B208-6D3D684E9E23}" type="datetimeFigureOut">
              <a:rPr lang="en-US" smtClean="0"/>
              <a:t>11-Jul-25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3CC2C9-6FE3-40AD-B6E3-C58360180392}" type="slidenum">
              <a:rPr lang="en-US" smtClean="0"/>
              <a:t>‹#›</a:t>
            </a:fld>
            <a:endParaRPr lang="en-US"/>
          </a:p>
        </p:txBody>
      </p:sp>
    </p:spTree>
    <p:extLst>
      <p:ext uri="{BB962C8B-B14F-4D97-AF65-F5344CB8AC3E}">
        <p14:creationId xmlns:p14="http://schemas.microsoft.com/office/powerpoint/2010/main" val="3716741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73CC2C9-6FE3-40AD-B6E3-C58360180392}" type="slidenum">
              <a:rPr lang="en-US" smtClean="0"/>
              <a:t>1</a:t>
            </a:fld>
            <a:endParaRPr lang="en-US"/>
          </a:p>
        </p:txBody>
      </p:sp>
    </p:spTree>
    <p:extLst>
      <p:ext uri="{BB962C8B-B14F-4D97-AF65-F5344CB8AC3E}">
        <p14:creationId xmlns:p14="http://schemas.microsoft.com/office/powerpoint/2010/main" val="1656856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11/07/2025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11/07/2025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11/07/2025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11/07/2025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11/07/2025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11/07/2025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11/07/2025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11/07/2025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11/07/2025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11/07/2025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11/07/2025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11/07/2025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vanageshreyas15@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Shreyas-Vanage/Fake-News-Detection-using-AI-and-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06934" y="939931"/>
            <a:ext cx="4779664" cy="2020606"/>
          </a:xfrm>
        </p:spPr>
        <p:txBody>
          <a:bodyPr vert="horz" lIns="91440" tIns="45720" rIns="91440" bIns="45720" rtlCol="0">
            <a:noAutofit/>
          </a:bodyPr>
          <a:lstStyle/>
          <a:p>
            <a:pPr algn="l"/>
            <a:r>
              <a:rPr lang="en-US" sz="1100" b="1" kern="1200" dirty="0">
                <a:latin typeface="+mj-lt"/>
                <a:ea typeface="+mj-ea"/>
                <a:cs typeface="+mj-cs"/>
              </a:rPr>
              <a:t>CAPSTONE PROJECT</a:t>
            </a:r>
            <a:br>
              <a:rPr lang="en-US" sz="1100" b="1" dirty="0"/>
            </a:br>
            <a:br>
              <a:rPr lang="en-US" sz="3200" b="1" dirty="0"/>
            </a:br>
            <a:r>
              <a:rPr lang="en-US" sz="3600" b="1" cap="all" dirty="0">
                <a:latin typeface="Aptos"/>
              </a:rPr>
              <a:t>fake news detection using ai &amp; ml</a:t>
            </a:r>
            <a:endParaRPr lang="en-US" sz="3600" dirty="0">
              <a:latin typeface="Aptos"/>
            </a:endParaRPr>
          </a:p>
          <a:p>
            <a:pPr algn="l"/>
            <a:endParaRPr lang="en-US" sz="3200" b="1" kern="1200" dirty="0"/>
          </a:p>
        </p:txBody>
      </p:sp>
      <p:sp>
        <p:nvSpPr>
          <p:cNvPr id="3" name="Subtitle 2"/>
          <p:cNvSpPr>
            <a:spLocks noGrp="1"/>
          </p:cNvSpPr>
          <p:nvPr>
            <p:ph type="subTitle" idx="1"/>
          </p:nvPr>
        </p:nvSpPr>
        <p:spPr>
          <a:xfrm>
            <a:off x="688622" y="2960538"/>
            <a:ext cx="4526315" cy="1570170"/>
          </a:xfrm>
        </p:spPr>
        <p:txBody>
          <a:bodyPr vert="horz" lIns="91440" tIns="45720" rIns="91440" bIns="45720" rtlCol="0" anchor="t">
            <a:noAutofit/>
          </a:bodyPr>
          <a:lstStyle/>
          <a:p>
            <a:pPr algn="l">
              <a:spcAft>
                <a:spcPts val="600"/>
              </a:spcAft>
            </a:pPr>
            <a:r>
              <a:rPr lang="en-US" sz="1600" b="1" cap="all" dirty="0"/>
              <a:t>Presented By</a:t>
            </a:r>
            <a:endParaRPr lang="en-US" sz="1600" cap="all" dirty="0"/>
          </a:p>
          <a:p>
            <a:pPr algn="l">
              <a:spcAft>
                <a:spcPts val="600"/>
              </a:spcAft>
            </a:pPr>
            <a:r>
              <a:rPr lang="en-US" sz="1600" b="1" cap="all" dirty="0"/>
              <a:t>Student Name : Shreyas </a:t>
            </a:r>
            <a:r>
              <a:rPr lang="en-US" sz="1600" b="1" cap="all" dirty="0" err="1"/>
              <a:t>hiru</a:t>
            </a:r>
            <a:r>
              <a:rPr lang="en-US" sz="1600" b="1" cap="all" dirty="0"/>
              <a:t> </a:t>
            </a:r>
            <a:r>
              <a:rPr lang="en-US" sz="1600" b="1" cap="all" dirty="0" err="1"/>
              <a:t>vanage</a:t>
            </a:r>
            <a:endParaRPr lang="en-US" sz="1600" b="1" cap="all" dirty="0"/>
          </a:p>
          <a:p>
            <a:pPr algn="l">
              <a:spcAft>
                <a:spcPts val="600"/>
              </a:spcAft>
            </a:pPr>
            <a:r>
              <a:rPr lang="en-US" sz="1600" b="1" cap="all" dirty="0"/>
              <a:t>College Name : </a:t>
            </a:r>
            <a:r>
              <a:rPr lang="en-US" sz="1600" b="1" cap="all" dirty="0" err="1"/>
              <a:t>Sinhgad</a:t>
            </a:r>
            <a:r>
              <a:rPr lang="en-US" sz="1600" b="1" cap="all" dirty="0"/>
              <a:t> Technical Education Society's </a:t>
            </a:r>
            <a:r>
              <a:rPr lang="en-US" sz="1600" b="1" cap="all" dirty="0" err="1"/>
              <a:t>Sinhgad</a:t>
            </a:r>
            <a:r>
              <a:rPr lang="en-US" sz="1600" b="1" cap="all" dirty="0"/>
              <a:t> Institute of Management, Pune-411041</a:t>
            </a:r>
          </a:p>
          <a:p>
            <a:pPr algn="l">
              <a:spcAft>
                <a:spcPts val="600"/>
              </a:spcAft>
            </a:pPr>
            <a:r>
              <a:rPr lang="en-US" sz="1600" b="1" cap="all" dirty="0"/>
              <a:t>Department : Computer Science</a:t>
            </a:r>
          </a:p>
          <a:p>
            <a:pPr algn="l">
              <a:spcAft>
                <a:spcPts val="600"/>
              </a:spcAft>
            </a:pPr>
            <a:r>
              <a:rPr lang="en-US" sz="1600" b="1" cap="all" dirty="0"/>
              <a:t>Email ID: </a:t>
            </a:r>
            <a:r>
              <a:rPr lang="en-US" sz="1600" b="1" cap="all" dirty="0">
                <a:hlinkClick r:id="rId3"/>
              </a:rPr>
              <a:t>vanageshreyas15@gmail.com</a:t>
            </a:r>
            <a:r>
              <a:rPr lang="en-US" sz="1600" b="1" cap="all" dirty="0"/>
              <a:t> </a:t>
            </a:r>
          </a:p>
          <a:p>
            <a:pPr algn="l">
              <a:spcAft>
                <a:spcPts val="600"/>
              </a:spcAft>
            </a:pPr>
            <a:r>
              <a:rPr lang="en-US" sz="1600" b="1" cap="all" dirty="0"/>
              <a:t>AICTE Student ID :  </a:t>
            </a:r>
          </a:p>
          <a:p>
            <a:pPr algn="l">
              <a:spcAft>
                <a:spcPts val="600"/>
              </a:spcAft>
            </a:pPr>
            <a:r>
              <a:rPr lang="en-US" sz="1600" dirty="0"/>
              <a:t>STU6431c64cd99281680983628</a:t>
            </a:r>
          </a:p>
        </p:txBody>
      </p:sp>
      <p:grpSp>
        <p:nvGrpSpPr>
          <p:cNvPr id="45" name="Group 44">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46" name="Straight Connector 45">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Rectangle 4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14015CB-5E10-32CA-C911-0C7E893B59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9742" y="933929"/>
            <a:ext cx="4483454" cy="4770526"/>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OUTLINE</a:t>
            </a:r>
            <a:endParaRPr lang="en-US" sz="5400"/>
          </a:p>
        </p:txBody>
      </p:sp>
      <p:sp>
        <p:nvSpPr>
          <p:cNvPr id="2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838200" y="1929384"/>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a:t>
            </a:r>
            <a:endParaRPr lang="en-US" sz="2200" dirty="0">
              <a:latin typeface="Arial"/>
              <a:cs typeface="Arial"/>
            </a:endParaRP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Problem Statement</a:t>
            </a:r>
            <a:endParaRPr lang="en-US" sz="5400"/>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838200" y="1929384"/>
            <a:ext cx="10515600" cy="4251960"/>
          </a:xfrm>
        </p:spPr>
        <p:txBody>
          <a:bodyPr vert="horz" lIns="91440" tIns="45720" rIns="91440" bIns="45720" rtlCol="0">
            <a:normAutofit/>
          </a:bodyPr>
          <a:lstStyle/>
          <a:p>
            <a:pPr marL="0" indent="0">
              <a:buNone/>
            </a:pPr>
            <a:r>
              <a:rPr lang="en-US" sz="2400" dirty="0"/>
              <a:t>In the digital age, information spreads rapidly across online platforms such as social media, blogs, and news websites. However, not all information shared is true. Fake news, or deliberately misleading and false information presented as news, poses a serious threat to public opinion and democracy. The challenge lies in detecting such misinformation accurately and efficiently.</a:t>
            </a: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Proposed Solution</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24325BF-B168-88C2-5AA1-AE1F03022D30}"/>
              </a:ext>
            </a:extLst>
          </p:cNvPr>
          <p:cNvSpPr txBox="1"/>
          <p:nvPr/>
        </p:nvSpPr>
        <p:spPr>
          <a:xfrm>
            <a:off x="838200" y="1885950"/>
            <a:ext cx="8971121" cy="4197046"/>
          </a:xfrm>
          <a:prstGeom prst="rect">
            <a:avLst/>
          </a:prstGeom>
          <a:noFill/>
        </p:spPr>
        <p:txBody>
          <a:bodyPr wrap="square" rtlCol="0">
            <a:spAutoFit/>
          </a:bodyPr>
          <a:lstStyle/>
          <a:p>
            <a:r>
              <a:rPr lang="en-US" sz="2100" dirty="0"/>
              <a:t>The proposed system aims to address the challenge of detecting fake news by leveraging natural language processing and machine learning techniques. The goal is to build a lightweight, efficient system that can classify news as real or fake based on the content of the headline or article title. The solution will consist of the following components:</a:t>
            </a:r>
          </a:p>
          <a:p>
            <a:pPr marL="228600" indent="-228600">
              <a:lnSpc>
                <a:spcPct val="70000"/>
              </a:lnSpc>
              <a:spcBef>
                <a:spcPts val="1000"/>
              </a:spcBef>
              <a:buFont typeface="Wingdings" panose="05000000000000000000" pitchFamily="2" charset="2"/>
              <a:buChar char="v"/>
            </a:pPr>
            <a:endParaRPr lang="en-US" sz="2400" b="1" dirty="0"/>
          </a:p>
          <a:p>
            <a:pPr marL="228600" indent="-228600">
              <a:lnSpc>
                <a:spcPct val="70000"/>
              </a:lnSpc>
              <a:spcBef>
                <a:spcPts val="1000"/>
              </a:spcBef>
              <a:buFont typeface="Wingdings" panose="05000000000000000000" pitchFamily="2" charset="2"/>
              <a:buChar char="v"/>
            </a:pPr>
            <a:r>
              <a:rPr lang="en-US" sz="2400" b="1" dirty="0"/>
              <a:t>Data Collection:</a:t>
            </a:r>
          </a:p>
          <a:p>
            <a:endParaRPr lang="en-US" dirty="0"/>
          </a:p>
          <a:p>
            <a:pPr marL="228600" indent="-228600">
              <a:lnSpc>
                <a:spcPct val="70000"/>
              </a:lnSpc>
              <a:spcBef>
                <a:spcPts val="1000"/>
              </a:spcBef>
              <a:buFont typeface="Arial" panose="020B0604020202020204" pitchFamily="34" charset="0"/>
              <a:buChar char="•"/>
            </a:pPr>
            <a:r>
              <a:rPr lang="en-US" sz="2100" dirty="0"/>
              <a:t>Utilize publicly available datasets containing labeled fake and real news, such as the Fake and Real News Dataset from Kaggle.</a:t>
            </a:r>
          </a:p>
          <a:p>
            <a:pPr marL="228600" indent="-228600">
              <a:lnSpc>
                <a:spcPct val="70000"/>
              </a:lnSpc>
              <a:spcBef>
                <a:spcPts val="1000"/>
              </a:spcBef>
              <a:buFont typeface="Arial" panose="020B0604020202020204" pitchFamily="34" charset="0"/>
              <a:buChar char="•"/>
            </a:pPr>
            <a:r>
              <a:rPr lang="en-US" sz="2100" dirty="0"/>
              <a:t>Each dataset entry includes a news title, text content, and source, along with a ground-truth label (`fake` or `real`).</a:t>
            </a:r>
          </a:p>
          <a:p>
            <a:endParaRPr lang="en-US"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5E1328-B706-64DA-CE13-179FF5E83B71}"/>
              </a:ext>
            </a:extLst>
          </p:cNvPr>
          <p:cNvSpPr>
            <a:spLocks noGrp="1"/>
          </p:cNvSpPr>
          <p:nvPr>
            <p:ph idx="1"/>
          </p:nvPr>
        </p:nvSpPr>
        <p:spPr>
          <a:xfrm>
            <a:off x="838200" y="414338"/>
            <a:ext cx="10515600" cy="5762625"/>
          </a:xfrm>
        </p:spPr>
        <p:txBody>
          <a:bodyPr>
            <a:normAutofit fontScale="62500" lnSpcReduction="20000"/>
          </a:bodyPr>
          <a:lstStyle/>
          <a:p>
            <a:endParaRPr lang="en-US" dirty="0"/>
          </a:p>
          <a:p>
            <a:endParaRPr lang="en-US" dirty="0"/>
          </a:p>
          <a:p>
            <a:pPr>
              <a:buFont typeface="Wingdings" panose="05000000000000000000" pitchFamily="2" charset="2"/>
              <a:buChar char="v"/>
            </a:pPr>
            <a:r>
              <a:rPr lang="en-US" sz="3800" b="1" dirty="0"/>
              <a:t> Data Preprocessing:</a:t>
            </a:r>
          </a:p>
          <a:p>
            <a:endParaRPr lang="en-US" dirty="0"/>
          </a:p>
          <a:p>
            <a:r>
              <a:rPr lang="en-US" sz="3400" dirty="0"/>
              <a:t>Convert all text data to lowercase to ensure uniformity.</a:t>
            </a:r>
          </a:p>
          <a:p>
            <a:r>
              <a:rPr lang="en-US" sz="3400" dirty="0"/>
              <a:t>Use TF-IDF vectorization to transform text into numerical features without relying on external language models.</a:t>
            </a:r>
          </a:p>
          <a:p>
            <a:r>
              <a:rPr lang="en-US" sz="3400" dirty="0"/>
              <a:t>Handle missing values and remove unnecessary characters or formatting from the input text where needed.</a:t>
            </a:r>
          </a:p>
          <a:p>
            <a:endParaRPr lang="en-US" dirty="0"/>
          </a:p>
          <a:p>
            <a:pPr>
              <a:buFont typeface="Wingdings" panose="05000000000000000000" pitchFamily="2" charset="2"/>
              <a:buChar char="v"/>
            </a:pPr>
            <a:r>
              <a:rPr lang="en-US" b="1" dirty="0"/>
              <a:t> </a:t>
            </a:r>
            <a:r>
              <a:rPr lang="en-US" sz="3800" b="1" dirty="0"/>
              <a:t>Machine Learning Algorithm:</a:t>
            </a:r>
          </a:p>
          <a:p>
            <a:endParaRPr lang="en-US" dirty="0"/>
          </a:p>
          <a:p>
            <a:r>
              <a:rPr lang="en-US" sz="3400" dirty="0"/>
              <a:t>Implement a Logistic Regression model for binary classification (fake = 0, real = 1).</a:t>
            </a:r>
          </a:p>
          <a:p>
            <a:r>
              <a:rPr lang="en-US" sz="3400" dirty="0"/>
              <a:t>Split the dataset into training and testing sets (80/20) to evaluate model performance.</a:t>
            </a:r>
          </a:p>
          <a:p>
            <a:r>
              <a:rPr lang="en-US" sz="3400" dirty="0"/>
              <a:t>Train the model using TF-IDF features extracted from the news titles.</a:t>
            </a:r>
          </a:p>
          <a:p>
            <a:r>
              <a:rPr lang="en-US" sz="3400" dirty="0"/>
              <a:t>Evaluate model performance using metrics like accuracy score and classification report (precision, recall, F1-score).</a:t>
            </a:r>
          </a:p>
          <a:p>
            <a:endParaRPr lang="en-US" dirty="0"/>
          </a:p>
          <a:p>
            <a:endParaRPr lang="en-US" dirty="0"/>
          </a:p>
        </p:txBody>
      </p:sp>
    </p:spTree>
    <p:extLst>
      <p:ext uri="{BB962C8B-B14F-4D97-AF65-F5344CB8AC3E}">
        <p14:creationId xmlns:p14="http://schemas.microsoft.com/office/powerpoint/2010/main" val="127841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900106-3242-F8E3-6EEB-F289F53719D1}"/>
              </a:ext>
            </a:extLst>
          </p:cNvPr>
          <p:cNvSpPr>
            <a:spLocks noGrp="1"/>
          </p:cNvSpPr>
          <p:nvPr>
            <p:ph idx="1"/>
          </p:nvPr>
        </p:nvSpPr>
        <p:spPr>
          <a:xfrm>
            <a:off x="838200" y="539750"/>
            <a:ext cx="10515600" cy="5803900"/>
          </a:xfrm>
        </p:spPr>
        <p:txBody>
          <a:bodyPr>
            <a:normAutofit fontScale="85000" lnSpcReduction="20000"/>
          </a:bodyPr>
          <a:lstStyle/>
          <a:p>
            <a:pPr>
              <a:buFont typeface="Wingdings" panose="05000000000000000000" pitchFamily="2" charset="2"/>
              <a:buChar char="v"/>
            </a:pPr>
            <a:r>
              <a:rPr lang="en-US" b="1" dirty="0"/>
              <a:t> Deployment :</a:t>
            </a:r>
          </a:p>
          <a:p>
            <a:endParaRPr lang="en-US" dirty="0"/>
          </a:p>
          <a:p>
            <a:r>
              <a:rPr lang="en-US" dirty="0"/>
              <a:t>Save the trained model and TF-IDF vectorizer using </a:t>
            </a:r>
            <a:r>
              <a:rPr lang="en-US" dirty="0" err="1"/>
              <a:t>Joblib</a:t>
            </a:r>
            <a:r>
              <a:rPr lang="en-US" dirty="0"/>
              <a:t>, making them reusable without retraining.</a:t>
            </a:r>
          </a:p>
          <a:p>
            <a:r>
              <a:rPr lang="en-US" dirty="0"/>
              <a:t>Build a </a:t>
            </a:r>
            <a:r>
              <a:rPr lang="en-US" dirty="0" err="1"/>
              <a:t>Streamlit</a:t>
            </a:r>
            <a:r>
              <a:rPr lang="en-US" dirty="0"/>
              <a:t>-based web application that provides a simple interface for users to input a news headline and receive a real-time prediction.</a:t>
            </a:r>
          </a:p>
          <a:p>
            <a:r>
              <a:rPr lang="en-US" dirty="0"/>
              <a:t>Deploy the app locally with the ability to extend deployment to cloud platforms (e.g., Render, Heroku) in future work.</a:t>
            </a:r>
          </a:p>
          <a:p>
            <a:endParaRPr lang="en-US" dirty="0"/>
          </a:p>
          <a:p>
            <a:pPr>
              <a:buFont typeface="Wingdings" panose="05000000000000000000" pitchFamily="2" charset="2"/>
              <a:buChar char="v"/>
            </a:pPr>
            <a:r>
              <a:rPr lang="en-US" b="1" dirty="0"/>
              <a:t> Evaluation :</a:t>
            </a:r>
          </a:p>
          <a:p>
            <a:endParaRPr lang="en-US" dirty="0"/>
          </a:p>
          <a:p>
            <a:r>
              <a:rPr lang="en-US" dirty="0"/>
              <a:t>Assess model performance on the test dataset using accuracy and classification metrics.</a:t>
            </a:r>
          </a:p>
          <a:p>
            <a:r>
              <a:rPr lang="en-US" dirty="0"/>
              <a:t>Verify prediction quality using different types of headlines - realistic, clickbait, and satire - to test generalization.</a:t>
            </a:r>
          </a:p>
          <a:p>
            <a:r>
              <a:rPr lang="en-US" dirty="0"/>
              <a:t>Manually validate edge cases to improve the system through future enhancements.</a:t>
            </a:r>
          </a:p>
          <a:p>
            <a:endParaRPr lang="en-US" dirty="0"/>
          </a:p>
          <a:p>
            <a:endParaRPr lang="en-US" dirty="0"/>
          </a:p>
          <a:p>
            <a:endParaRPr lang="en-US" dirty="0"/>
          </a:p>
        </p:txBody>
      </p:sp>
    </p:spTree>
    <p:extLst>
      <p:ext uri="{BB962C8B-B14F-4D97-AF65-F5344CB8AC3E}">
        <p14:creationId xmlns:p14="http://schemas.microsoft.com/office/powerpoint/2010/main" val="3830503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System  Approach</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C8BF43B7-D0D9-D70C-16BE-88F0B04D4EF6}"/>
              </a:ext>
            </a:extLst>
          </p:cNvPr>
          <p:cNvGraphicFramePr>
            <a:graphicFrameLocks noGrp="1"/>
          </p:cNvGraphicFramePr>
          <p:nvPr>
            <p:ph idx="1"/>
            <p:extLst>
              <p:ext uri="{D42A27DB-BD31-4B8C-83A1-F6EECF244321}">
                <p14:modId xmlns:p14="http://schemas.microsoft.com/office/powerpoint/2010/main" val="3825236082"/>
              </p:ext>
            </p:extLst>
          </p:nvPr>
        </p:nvGraphicFramePr>
        <p:xfrm>
          <a:off x="838200" y="2055813"/>
          <a:ext cx="10515600" cy="3912363"/>
        </p:xfrm>
        <a:graphic>
          <a:graphicData uri="http://schemas.openxmlformats.org/drawingml/2006/table">
            <a:tbl>
              <a:tblPr>
                <a:tableStyleId>{5DA37D80-6434-44D0-A028-1B22A696006F}</a:tableStyleId>
              </a:tblPr>
              <a:tblGrid>
                <a:gridCol w="5257800">
                  <a:extLst>
                    <a:ext uri="{9D8B030D-6E8A-4147-A177-3AD203B41FA5}">
                      <a16:colId xmlns:a16="http://schemas.microsoft.com/office/drawing/2014/main" val="3049757775"/>
                    </a:ext>
                  </a:extLst>
                </a:gridCol>
                <a:gridCol w="5257800">
                  <a:extLst>
                    <a:ext uri="{9D8B030D-6E8A-4147-A177-3AD203B41FA5}">
                      <a16:colId xmlns:a16="http://schemas.microsoft.com/office/drawing/2014/main" val="4064368623"/>
                    </a:ext>
                  </a:extLst>
                </a:gridCol>
              </a:tblGrid>
              <a:tr h="558909">
                <a:tc>
                  <a:txBody>
                    <a:bodyPr/>
                    <a:lstStyle/>
                    <a:p>
                      <a:pPr>
                        <a:buNone/>
                      </a:pPr>
                      <a:r>
                        <a:rPr lang="en-US" b="1" dirty="0"/>
                        <a:t>Component</a:t>
                      </a:r>
                    </a:p>
                  </a:txBody>
                  <a:tcPr anchor="ctr"/>
                </a:tc>
                <a:tc>
                  <a:txBody>
                    <a:bodyPr/>
                    <a:lstStyle/>
                    <a:p>
                      <a:pPr>
                        <a:buNone/>
                      </a:pPr>
                      <a:r>
                        <a:rPr lang="en-US" b="1" dirty="0"/>
                        <a:t>Technology Used</a:t>
                      </a:r>
                    </a:p>
                  </a:txBody>
                  <a:tcPr anchor="ctr"/>
                </a:tc>
                <a:extLst>
                  <a:ext uri="{0D108BD9-81ED-4DB2-BD59-A6C34878D82A}">
                    <a16:rowId xmlns:a16="http://schemas.microsoft.com/office/drawing/2014/main" val="1029309272"/>
                  </a:ext>
                </a:extLst>
              </a:tr>
              <a:tr h="558909">
                <a:tc>
                  <a:txBody>
                    <a:bodyPr/>
                    <a:lstStyle/>
                    <a:p>
                      <a:pPr>
                        <a:buNone/>
                      </a:pPr>
                      <a:r>
                        <a:rPr lang="en-US" dirty="0"/>
                        <a:t>Programming Language</a:t>
                      </a:r>
                    </a:p>
                  </a:txBody>
                  <a:tcPr anchor="ctr"/>
                </a:tc>
                <a:tc>
                  <a:txBody>
                    <a:bodyPr/>
                    <a:lstStyle/>
                    <a:p>
                      <a:pPr>
                        <a:buNone/>
                      </a:pPr>
                      <a:r>
                        <a:rPr lang="en-US"/>
                        <a:t>Python</a:t>
                      </a:r>
                    </a:p>
                  </a:txBody>
                  <a:tcPr anchor="ctr"/>
                </a:tc>
                <a:extLst>
                  <a:ext uri="{0D108BD9-81ED-4DB2-BD59-A6C34878D82A}">
                    <a16:rowId xmlns:a16="http://schemas.microsoft.com/office/drawing/2014/main" val="1753621694"/>
                  </a:ext>
                </a:extLst>
              </a:tr>
              <a:tr h="558909">
                <a:tc>
                  <a:txBody>
                    <a:bodyPr/>
                    <a:lstStyle/>
                    <a:p>
                      <a:pPr>
                        <a:buNone/>
                      </a:pPr>
                      <a:r>
                        <a:rPr lang="en-US"/>
                        <a:t>Libraries &amp; Tools</a:t>
                      </a:r>
                    </a:p>
                  </a:txBody>
                  <a:tcPr anchor="ctr"/>
                </a:tc>
                <a:tc>
                  <a:txBody>
                    <a:bodyPr/>
                    <a:lstStyle/>
                    <a:p>
                      <a:pPr>
                        <a:buNone/>
                      </a:pPr>
                      <a:r>
                        <a:rPr lang="en-US"/>
                        <a:t>pandas, scikit-learn, joblib, Streamlit</a:t>
                      </a:r>
                    </a:p>
                  </a:txBody>
                  <a:tcPr anchor="ctr"/>
                </a:tc>
                <a:extLst>
                  <a:ext uri="{0D108BD9-81ED-4DB2-BD59-A6C34878D82A}">
                    <a16:rowId xmlns:a16="http://schemas.microsoft.com/office/drawing/2014/main" val="1123555871"/>
                  </a:ext>
                </a:extLst>
              </a:tr>
              <a:tr h="558909">
                <a:tc>
                  <a:txBody>
                    <a:bodyPr/>
                    <a:lstStyle/>
                    <a:p>
                      <a:pPr>
                        <a:buNone/>
                      </a:pPr>
                      <a:r>
                        <a:rPr lang="en-US"/>
                        <a:t>Model Used</a:t>
                      </a:r>
                    </a:p>
                  </a:txBody>
                  <a:tcPr anchor="ctr"/>
                </a:tc>
                <a:tc>
                  <a:txBody>
                    <a:bodyPr/>
                    <a:lstStyle/>
                    <a:p>
                      <a:pPr>
                        <a:buNone/>
                      </a:pPr>
                      <a:r>
                        <a:rPr lang="en-US"/>
                        <a:t>Logistic Regression</a:t>
                      </a:r>
                    </a:p>
                  </a:txBody>
                  <a:tcPr anchor="ctr"/>
                </a:tc>
                <a:extLst>
                  <a:ext uri="{0D108BD9-81ED-4DB2-BD59-A6C34878D82A}">
                    <a16:rowId xmlns:a16="http://schemas.microsoft.com/office/drawing/2014/main" val="173143492"/>
                  </a:ext>
                </a:extLst>
              </a:tr>
              <a:tr h="558909">
                <a:tc>
                  <a:txBody>
                    <a:bodyPr/>
                    <a:lstStyle/>
                    <a:p>
                      <a:pPr>
                        <a:buNone/>
                      </a:pPr>
                      <a:r>
                        <a:rPr lang="en-US"/>
                        <a:t>Text Vectorization</a:t>
                      </a:r>
                    </a:p>
                  </a:txBody>
                  <a:tcPr anchor="ctr"/>
                </a:tc>
                <a:tc>
                  <a:txBody>
                    <a:bodyPr/>
                    <a:lstStyle/>
                    <a:p>
                      <a:pPr>
                        <a:buNone/>
                      </a:pPr>
                      <a:r>
                        <a:rPr lang="en-US"/>
                        <a:t>TF-IDF (from scikit-learn)</a:t>
                      </a:r>
                    </a:p>
                  </a:txBody>
                  <a:tcPr anchor="ctr"/>
                </a:tc>
                <a:extLst>
                  <a:ext uri="{0D108BD9-81ED-4DB2-BD59-A6C34878D82A}">
                    <a16:rowId xmlns:a16="http://schemas.microsoft.com/office/drawing/2014/main" val="2691090464"/>
                  </a:ext>
                </a:extLst>
              </a:tr>
              <a:tr h="558909">
                <a:tc>
                  <a:txBody>
                    <a:bodyPr/>
                    <a:lstStyle/>
                    <a:p>
                      <a:pPr>
                        <a:buNone/>
                      </a:pPr>
                      <a:r>
                        <a:rPr lang="en-US"/>
                        <a:t>Dataset</a:t>
                      </a:r>
                    </a:p>
                  </a:txBody>
                  <a:tcPr anchor="ctr"/>
                </a:tc>
                <a:tc>
                  <a:txBody>
                    <a:bodyPr/>
                    <a:lstStyle/>
                    <a:p>
                      <a:pPr>
                        <a:buNone/>
                      </a:pPr>
                      <a:r>
                        <a:rPr lang="en-US"/>
                        <a:t>Fake.csv, True.csv</a:t>
                      </a:r>
                    </a:p>
                  </a:txBody>
                  <a:tcPr anchor="ctr"/>
                </a:tc>
                <a:extLst>
                  <a:ext uri="{0D108BD9-81ED-4DB2-BD59-A6C34878D82A}">
                    <a16:rowId xmlns:a16="http://schemas.microsoft.com/office/drawing/2014/main" val="1020240485"/>
                  </a:ext>
                </a:extLst>
              </a:tr>
              <a:tr h="558909">
                <a:tc>
                  <a:txBody>
                    <a:bodyPr/>
                    <a:lstStyle/>
                    <a:p>
                      <a:pPr>
                        <a:buNone/>
                      </a:pPr>
                      <a:r>
                        <a:rPr lang="en-US"/>
                        <a:t>Deployment</a:t>
                      </a:r>
                    </a:p>
                  </a:txBody>
                  <a:tcPr anchor="ctr"/>
                </a:tc>
                <a:tc>
                  <a:txBody>
                    <a:bodyPr/>
                    <a:lstStyle/>
                    <a:p>
                      <a:pPr>
                        <a:buNone/>
                      </a:pPr>
                      <a:r>
                        <a:rPr lang="en-US" dirty="0"/>
                        <a:t>Local deployment via </a:t>
                      </a:r>
                      <a:r>
                        <a:rPr lang="en-US" dirty="0" err="1"/>
                        <a:t>Streamlit</a:t>
                      </a:r>
                      <a:endParaRPr lang="en-US" dirty="0"/>
                    </a:p>
                  </a:txBody>
                  <a:tcPr anchor="ctr"/>
                </a:tc>
                <a:extLst>
                  <a:ext uri="{0D108BD9-81ED-4DB2-BD59-A6C34878D82A}">
                    <a16:rowId xmlns:a16="http://schemas.microsoft.com/office/drawing/2014/main" val="2327150657"/>
                  </a:ext>
                </a:extLst>
              </a:tr>
            </a:tbl>
          </a:graphicData>
        </a:graphic>
      </p:graphicFrame>
    </p:spTree>
    <p:extLst>
      <p:ext uri="{BB962C8B-B14F-4D97-AF65-F5344CB8AC3E}">
        <p14:creationId xmlns:p14="http://schemas.microsoft.com/office/powerpoint/2010/main" val="3501125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Algorithm &amp; Deployment</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22E5300-B515-4521-903D-0328F3A5477E}"/>
              </a:ext>
            </a:extLst>
          </p:cNvPr>
          <p:cNvSpPr txBox="1"/>
          <p:nvPr/>
        </p:nvSpPr>
        <p:spPr>
          <a:xfrm>
            <a:off x="669036" y="1810473"/>
            <a:ext cx="10532364" cy="4737707"/>
          </a:xfrm>
          <a:prstGeom prst="rect">
            <a:avLst/>
          </a:prstGeom>
          <a:noFill/>
        </p:spPr>
        <p:txBody>
          <a:bodyPr wrap="square" rtlCol="0">
            <a:spAutoFit/>
          </a:bodyPr>
          <a:lstStyle/>
          <a:p>
            <a:r>
              <a:rPr lang="en-US" sz="2600" b="1" dirty="0"/>
              <a:t>Algorithm Selection:</a:t>
            </a:r>
          </a:p>
          <a:p>
            <a:r>
              <a:rPr lang="en-US" sz="2600" dirty="0"/>
              <a:t>I used Logistic Regression, a simple and efficient binary classification algorithm. It's well-suited for text-based tasks like fake news detection due to its speed and effectiveness on high-dimensional data such as TF-IDF vectors.</a:t>
            </a:r>
          </a:p>
          <a:p>
            <a:endParaRPr lang="en-US" dirty="0"/>
          </a:p>
          <a:p>
            <a:pPr marL="228600" indent="-228600">
              <a:lnSpc>
                <a:spcPct val="80000"/>
              </a:lnSpc>
              <a:spcBef>
                <a:spcPts val="1000"/>
              </a:spcBef>
              <a:buFont typeface="Wingdings" panose="05000000000000000000" pitchFamily="2" charset="2"/>
              <a:buChar char="v"/>
            </a:pPr>
            <a:r>
              <a:rPr lang="en-US" sz="2600" b="1" dirty="0"/>
              <a:t> Data Input:</a:t>
            </a:r>
          </a:p>
          <a:p>
            <a:endParaRPr lang="en-US" dirty="0"/>
          </a:p>
          <a:p>
            <a:pPr marL="228600" indent="-228600">
              <a:lnSpc>
                <a:spcPct val="80000"/>
              </a:lnSpc>
              <a:spcBef>
                <a:spcPts val="1000"/>
              </a:spcBef>
              <a:buFont typeface="Arial" panose="020B0604020202020204" pitchFamily="34" charset="0"/>
              <a:buChar char="•"/>
            </a:pPr>
            <a:r>
              <a:rPr lang="en-US" sz="2600" dirty="0"/>
              <a:t>The model takes news headlines as input. These are preprocessed and converted into numerical form using TF-IDF vectorization, which captures word importance while ignoring common stop words.</a:t>
            </a:r>
          </a:p>
          <a:p>
            <a:endParaRPr lang="en-US" dirty="0"/>
          </a:p>
          <a:p>
            <a:endParaRPr lang="en-US" dirty="0"/>
          </a:p>
        </p:txBody>
      </p:sp>
    </p:spTree>
    <p:extLst>
      <p:ext uri="{BB962C8B-B14F-4D97-AF65-F5344CB8AC3E}">
        <p14:creationId xmlns:p14="http://schemas.microsoft.com/office/powerpoint/2010/main" val="1199084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54B120-C614-CA76-CA28-A51AAEC45BB4}"/>
              </a:ext>
            </a:extLst>
          </p:cNvPr>
          <p:cNvSpPr>
            <a:spLocks noGrp="1"/>
          </p:cNvSpPr>
          <p:nvPr>
            <p:ph idx="1"/>
          </p:nvPr>
        </p:nvSpPr>
        <p:spPr>
          <a:xfrm>
            <a:off x="838200" y="742950"/>
            <a:ext cx="10515600" cy="5391151"/>
          </a:xfrm>
        </p:spPr>
        <p:txBody>
          <a:bodyPr>
            <a:normAutofit fontScale="92500" lnSpcReduction="10000"/>
          </a:bodyPr>
          <a:lstStyle/>
          <a:p>
            <a:pPr>
              <a:buFont typeface="Wingdings" panose="05000000000000000000" pitchFamily="2" charset="2"/>
              <a:buChar char="v"/>
            </a:pPr>
            <a:r>
              <a:rPr lang="en-US" b="1" dirty="0"/>
              <a:t> Training Process:</a:t>
            </a:r>
          </a:p>
          <a:p>
            <a:endParaRPr lang="en-US" dirty="0"/>
          </a:p>
          <a:p>
            <a:r>
              <a:rPr lang="en-US" dirty="0"/>
              <a:t>The dataset was split into training (80%) and testing (20%) sets. The model was trained on TF-IDF features from the headlines without additional tuning. Accuracy and classification metrics were used for evaluation.</a:t>
            </a:r>
          </a:p>
          <a:p>
            <a:endParaRPr lang="en-US" dirty="0"/>
          </a:p>
          <a:p>
            <a:pPr>
              <a:buFont typeface="Wingdings" panose="05000000000000000000" pitchFamily="2" charset="2"/>
              <a:buChar char="v"/>
            </a:pPr>
            <a:r>
              <a:rPr lang="en-US" b="1" dirty="0"/>
              <a:t> Prediction Process:</a:t>
            </a:r>
          </a:p>
          <a:p>
            <a:endParaRPr lang="en-US" dirty="0"/>
          </a:p>
          <a:p>
            <a:r>
              <a:rPr lang="en-US" dirty="0"/>
              <a:t>User input is vectorized using the same TF-IDF model and passed to the trained Logistic Regression model to predict whether the news is real or fake. The system is deployed via a simple </a:t>
            </a:r>
            <a:r>
              <a:rPr lang="en-US" dirty="0" err="1"/>
              <a:t>Streamlit</a:t>
            </a:r>
            <a:r>
              <a:rPr lang="en-US" dirty="0"/>
              <a:t> web app for real-time use.</a:t>
            </a:r>
          </a:p>
          <a:p>
            <a:endParaRPr lang="en-US" dirty="0"/>
          </a:p>
          <a:p>
            <a:pPr marL="0" indent="0">
              <a:buNone/>
            </a:pPr>
            <a:endParaRPr lang="en-US" dirty="0"/>
          </a:p>
        </p:txBody>
      </p:sp>
    </p:spTree>
    <p:extLst>
      <p:ext uri="{BB962C8B-B14F-4D97-AF65-F5344CB8AC3E}">
        <p14:creationId xmlns:p14="http://schemas.microsoft.com/office/powerpoint/2010/main" val="4247295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Result</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838200" y="1929384"/>
            <a:ext cx="10515600" cy="4251960"/>
          </a:xfrm>
        </p:spPr>
        <p:txBody>
          <a:bodyPr vert="horz" lIns="91440" tIns="45720" rIns="91440" bIns="45720" rtlCol="0">
            <a:normAutofit fontScale="92500" lnSpcReduction="20000"/>
          </a:bodyPr>
          <a:lstStyle/>
          <a:p>
            <a:pPr marL="0" indent="0">
              <a:buNone/>
            </a:pPr>
            <a:r>
              <a:rPr lang="en-US" sz="2600" dirty="0"/>
              <a:t>The machine learning model demonstrated strong performance in classifying news headlines as real or fake. The evaluation was done on a separate test dataset using metrics such as accuracy, precision, recall, and F1-score.</a:t>
            </a:r>
          </a:p>
          <a:p>
            <a:pPr marL="0" indent="0">
              <a:buNone/>
            </a:pPr>
            <a:endParaRPr lang="en-US" sz="2200" dirty="0">
              <a:latin typeface="Franklin Gothic Book"/>
            </a:endParaRPr>
          </a:p>
          <a:p>
            <a:pPr>
              <a:buFont typeface="Wingdings" panose="05000000000000000000" pitchFamily="2" charset="2"/>
              <a:buChar char="v"/>
            </a:pPr>
            <a:r>
              <a:rPr lang="en-US" sz="2200" b="1" dirty="0">
                <a:latin typeface="Franklin Gothic Book"/>
              </a:rPr>
              <a:t> </a:t>
            </a:r>
            <a:r>
              <a:rPr lang="en-US" sz="2600" b="1" dirty="0"/>
              <a:t>Accuracy :</a:t>
            </a:r>
          </a:p>
          <a:p>
            <a:pPr marL="0" indent="0">
              <a:buNone/>
            </a:pPr>
            <a:r>
              <a:rPr lang="en-US" sz="2600" dirty="0"/>
              <a:t>The model achieved an accuracy of over 95%, indicating high reliability in distinguishing between real and fake news headlines based on textual features alone.</a:t>
            </a:r>
          </a:p>
          <a:p>
            <a:pPr marL="0" indent="0">
              <a:buNone/>
            </a:pPr>
            <a:endParaRPr lang="en-US" sz="2200" dirty="0">
              <a:latin typeface="Franklin Gothic Book"/>
            </a:endParaRPr>
          </a:p>
          <a:p>
            <a:pPr>
              <a:buFont typeface="Wingdings" panose="05000000000000000000" pitchFamily="2" charset="2"/>
              <a:buChar char="v"/>
            </a:pPr>
            <a:r>
              <a:rPr lang="en-US" sz="2200" b="1" dirty="0">
                <a:latin typeface="Franklin Gothic Book"/>
              </a:rPr>
              <a:t> </a:t>
            </a:r>
            <a:r>
              <a:rPr lang="en-US" sz="2600" b="1" dirty="0"/>
              <a:t>Classification Report :</a:t>
            </a:r>
          </a:p>
          <a:p>
            <a:pPr marL="0" indent="0">
              <a:buNone/>
            </a:pPr>
            <a:r>
              <a:rPr lang="en-US" sz="2600" dirty="0"/>
              <a:t>A classification report showed balanced precision and recall values for both classes (real and fake), confirming the model’s effectiveness in minimizing both false positives and false negatives.</a:t>
            </a:r>
          </a:p>
        </p:txBody>
      </p:sp>
    </p:spTree>
    <p:extLst>
      <p:ext uri="{BB962C8B-B14F-4D97-AF65-F5344CB8AC3E}">
        <p14:creationId xmlns:p14="http://schemas.microsoft.com/office/powerpoint/2010/main" val="58742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D260AA47-3A51-B815-D8B1-AE03DCBBCF54}"/>
              </a:ext>
            </a:extLst>
          </p:cNvPr>
          <p:cNvPicPr>
            <a:picLocks noChangeAspect="1"/>
          </p:cNvPicPr>
          <p:nvPr/>
        </p:nvPicPr>
        <p:blipFill>
          <a:blip r:embed="rId2">
            <a:extLst>
              <a:ext uri="{28A0092B-C50C-407E-A947-70E740481C1C}">
                <a14:useLocalDpi xmlns:a14="http://schemas.microsoft.com/office/drawing/2010/main" val="0"/>
              </a:ext>
            </a:extLst>
          </a:blip>
          <a:srcRect l="735" r="13456" b="-2"/>
          <a:stretch>
            <a:fillRect/>
          </a:stretch>
        </p:blipFill>
        <p:spPr>
          <a:xfrm>
            <a:off x="1233609" y="0"/>
            <a:ext cx="9724781" cy="40923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descr="A screenshot of a computer&#10;&#10;AI-generated content may be incorrect.">
            <a:extLst>
              <a:ext uri="{FF2B5EF4-FFF2-40B4-BE49-F238E27FC236}">
                <a16:creationId xmlns:a16="http://schemas.microsoft.com/office/drawing/2014/main" id="{332191DE-B084-FC8F-2987-F55FC7E0D41B}"/>
              </a:ext>
            </a:extLst>
          </p:cNvPr>
          <p:cNvPicPr>
            <a:picLocks noChangeAspect="1"/>
          </p:cNvPicPr>
          <p:nvPr/>
        </p:nvPicPr>
        <p:blipFill>
          <a:blip r:embed="rId3">
            <a:extLst>
              <a:ext uri="{28A0092B-C50C-407E-A947-70E740481C1C}">
                <a14:useLocalDpi xmlns:a14="http://schemas.microsoft.com/office/drawing/2010/main" val="0"/>
              </a:ext>
            </a:extLst>
          </a:blip>
          <a:srcRect r="18681" b="-4"/>
          <a:stretch>
            <a:fillRect/>
          </a:stretch>
        </p:blipFill>
        <p:spPr>
          <a:xfrm>
            <a:off x="1233609" y="4092315"/>
            <a:ext cx="4862391" cy="276568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Content Placeholder 12" descr="A screenshot of a computer&#10;&#10;AI-generated content may be incorrect.">
            <a:extLst>
              <a:ext uri="{FF2B5EF4-FFF2-40B4-BE49-F238E27FC236}">
                <a16:creationId xmlns:a16="http://schemas.microsoft.com/office/drawing/2014/main" id="{DA1A5B24-D83F-F887-A110-28035F913DA4}"/>
              </a:ext>
            </a:extLst>
          </p:cNvPr>
          <p:cNvPicPr>
            <a:picLocks noChangeAspect="1"/>
          </p:cNvPicPr>
          <p:nvPr/>
        </p:nvPicPr>
        <p:blipFill>
          <a:blip r:embed="rId4">
            <a:extLst>
              <a:ext uri="{28A0092B-C50C-407E-A947-70E740481C1C}">
                <a14:useLocalDpi xmlns:a14="http://schemas.microsoft.com/office/drawing/2010/main" val="0"/>
              </a:ext>
            </a:extLst>
          </a:blip>
          <a:srcRect r="18681" b="-4"/>
          <a:stretch>
            <a:fillRect/>
          </a:stretch>
        </p:blipFill>
        <p:spPr>
          <a:xfrm>
            <a:off x="6095999" y="4092315"/>
            <a:ext cx="4862390" cy="276568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742803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Conclusion</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838200" y="1929384"/>
            <a:ext cx="10515600" cy="4251960"/>
          </a:xfrm>
        </p:spPr>
        <p:txBody>
          <a:bodyPr vert="horz" lIns="91440" tIns="45720" rIns="91440" bIns="45720" rtlCol="0">
            <a:normAutofit/>
          </a:bodyPr>
          <a:lstStyle/>
          <a:p>
            <a:pPr marL="0" indent="0">
              <a:buNone/>
            </a:pPr>
            <a:r>
              <a:rPr lang="en-US" sz="2400" dirty="0"/>
              <a:t>The Fake News Detection system successfully uses a machine learning model to classify news headlines as real or fake. The Logistic Regression model, combined with TF-IDF vectorization, provides a fast and efficient method for detecting misinformation. The system achieved high accuracy and is also easy to interact with via a simple web app.</a:t>
            </a:r>
            <a:endParaRPr lang="en-US" sz="2200" dirty="0"/>
          </a:p>
        </p:txBody>
      </p:sp>
    </p:spTree>
    <p:extLst>
      <p:ext uri="{BB962C8B-B14F-4D97-AF65-F5344CB8AC3E}">
        <p14:creationId xmlns:p14="http://schemas.microsoft.com/office/powerpoint/2010/main" val="2245309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Future scope</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838200" y="1929384"/>
            <a:ext cx="10515600" cy="4251960"/>
          </a:xfrm>
        </p:spPr>
        <p:txBody>
          <a:bodyPr vert="horz" lIns="91440" tIns="45720" rIns="91440" bIns="45720" rtlCol="0">
            <a:normAutofit/>
          </a:bodyPr>
          <a:lstStyle/>
          <a:p>
            <a:pPr>
              <a:spcBef>
                <a:spcPct val="20000"/>
              </a:spcBef>
              <a:spcAft>
                <a:spcPts val="600"/>
              </a:spcAft>
            </a:pPr>
            <a:endParaRPr lang="en-US" sz="2200" dirty="0">
              <a:latin typeface="Franklin Gothic Book"/>
            </a:endParaRPr>
          </a:p>
          <a:p>
            <a:r>
              <a:rPr lang="en-US" sz="2200" dirty="0"/>
              <a:t>Extend to full news articles (not just headlines)</a:t>
            </a:r>
          </a:p>
          <a:p>
            <a:r>
              <a:rPr lang="en-US" sz="2200" dirty="0"/>
              <a:t>Use deep learning models like LSTM or BERT for better accuracy</a:t>
            </a:r>
          </a:p>
          <a:p>
            <a:r>
              <a:rPr lang="en-US" sz="2200" dirty="0"/>
              <a:t>Deploy as a web service using platforms like Heroku or Render</a:t>
            </a:r>
          </a:p>
          <a:p>
            <a:r>
              <a:rPr lang="en-US" sz="2200" dirty="0"/>
              <a:t>Add a database to track and log submitted headlines</a:t>
            </a:r>
          </a:p>
          <a:p>
            <a:r>
              <a:rPr lang="en-US" sz="2200" dirty="0"/>
              <a:t>Integrate with browser extensions to detect fake news in real-time</a:t>
            </a: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References</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457200" indent="-457200">
              <a:buFont typeface="+mj-lt"/>
              <a:buAutoNum type="arabicPeriod"/>
            </a:pPr>
            <a:r>
              <a:rPr lang="en-IN" sz="2200" dirty="0">
                <a:latin typeface="Franklin Gothic Book"/>
              </a:rPr>
              <a:t>Kaggle Fake News Dataset</a:t>
            </a:r>
          </a:p>
          <a:p>
            <a:pPr marL="457200" indent="-457200">
              <a:buFont typeface="+mj-lt"/>
              <a:buAutoNum type="arabicPeriod"/>
            </a:pPr>
            <a:r>
              <a:rPr lang="en-IN" sz="2200" dirty="0">
                <a:latin typeface="Franklin Gothic Book"/>
              </a:rPr>
              <a:t>Scikit-learn documentation</a:t>
            </a:r>
          </a:p>
          <a:p>
            <a:pPr marL="457200" indent="-457200">
              <a:buFont typeface="+mj-lt"/>
              <a:buAutoNum type="arabicPeriod"/>
            </a:pPr>
            <a:r>
              <a:rPr lang="en-IN" sz="2200" dirty="0" err="1">
                <a:latin typeface="Franklin Gothic Book"/>
              </a:rPr>
              <a:t>Streamlit</a:t>
            </a:r>
            <a:r>
              <a:rPr lang="en-IN" sz="2200" dirty="0">
                <a:latin typeface="Franklin Gothic Book"/>
              </a:rPr>
              <a:t> documentation</a:t>
            </a:r>
          </a:p>
          <a:p>
            <a:pPr marL="457200" indent="-457200">
              <a:buFont typeface="+mj-lt"/>
              <a:buAutoNum type="arabicPeriod"/>
            </a:pPr>
            <a:r>
              <a:rPr lang="en-IN" sz="2200" dirty="0" err="1">
                <a:latin typeface="Franklin Gothic Book"/>
              </a:rPr>
              <a:t>Joblib</a:t>
            </a:r>
            <a:r>
              <a:rPr lang="en-IN" sz="2200" dirty="0">
                <a:latin typeface="Franklin Gothic Book"/>
              </a:rPr>
              <a:t> documentation</a:t>
            </a:r>
          </a:p>
          <a:p>
            <a:pPr marL="457200" indent="-457200">
              <a:buFont typeface="+mj-lt"/>
              <a:buAutoNum type="arabicPeriod"/>
            </a:pPr>
            <a:r>
              <a:rPr lang="en-IN" sz="2200" dirty="0">
                <a:latin typeface="Franklin Gothic Book"/>
              </a:rPr>
              <a:t>Research paper : “Fake News Detection on Social Media: A Data Mining Perspective” – ACM SIGKDD</a:t>
            </a:r>
          </a:p>
          <a:p>
            <a:pPr marL="0" indent="0">
              <a:buNone/>
            </a:pPr>
            <a:endParaRPr lang="en-IN" sz="2200" dirty="0">
              <a:latin typeface="Franklin Gothic Book"/>
            </a:endParaRPr>
          </a:p>
          <a:p>
            <a:pPr marL="0" indent="0">
              <a:buNone/>
            </a:pPr>
            <a:r>
              <a:rPr lang="en-IN" sz="2200" b="1" dirty="0">
                <a:latin typeface="Franklin Gothic Book"/>
              </a:rPr>
              <a:t>GitHub Link:</a:t>
            </a:r>
            <a:r>
              <a:rPr lang="en-IN" sz="2200" b="1" dirty="0">
                <a:solidFill>
                  <a:srgbClr val="0070C0"/>
                </a:solidFill>
                <a:latin typeface="Franklin Gothic Book"/>
              </a:rPr>
              <a:t> </a:t>
            </a:r>
            <a:r>
              <a:rPr lang="en-IN" sz="2200" dirty="0">
                <a:solidFill>
                  <a:srgbClr val="0070C0"/>
                </a:solidFill>
                <a:latin typeface="Franklin Gothic Book"/>
                <a:hlinkClick r:id="rId2"/>
              </a:rPr>
              <a:t>https://github.com/Shreyas-Vanage/Fake-News-Detection-using-AI-and-ML</a:t>
            </a: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2B4E14-CB16-A18D-91E1-78787A456020}"/>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2B90035-F7DF-B222-A678-18C907CDC7DD}"/>
              </a:ext>
            </a:extLst>
          </p:cNvPr>
          <p:cNvSpPr txBox="1"/>
          <p:nvPr/>
        </p:nvSpPr>
        <p:spPr>
          <a:xfrm>
            <a:off x="838200" y="451381"/>
            <a:ext cx="10512552" cy="406654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1" kern="1200">
                <a:solidFill>
                  <a:schemeClr val="tx1"/>
                </a:solidFill>
                <a:latin typeface="+mj-lt"/>
                <a:ea typeface="+mj-ea"/>
                <a:cs typeface="+mj-cs"/>
              </a:rPr>
              <a:t>Thank you</a:t>
            </a:r>
            <a:endParaRPr lang="en-US" sz="6600" kern="1200">
              <a:solidFill>
                <a:schemeClr val="tx1"/>
              </a:solidFill>
              <a:latin typeface="+mj-lt"/>
              <a:ea typeface="+mj-ea"/>
              <a:cs typeface="+mj-cs"/>
            </a:endParaRPr>
          </a:p>
        </p:txBody>
      </p:sp>
      <p:sp>
        <p:nvSpPr>
          <p:cNvPr id="24"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5498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188</TotalTime>
  <Words>946</Words>
  <Application>Microsoft Office PowerPoint</Application>
  <PresentationFormat>Widescreen</PresentationFormat>
  <Paragraphs>108</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Franklin Gothic Book</vt:lpstr>
      <vt:lpstr>Wingdings</vt:lpstr>
      <vt:lpstr>office theme</vt:lpstr>
      <vt:lpstr>CAPSTONE PROJECT  fake news detection using ai &amp; ml </vt:lpstr>
      <vt:lpstr>OUTLINE</vt:lpstr>
      <vt:lpstr>Problem Statement</vt:lpstr>
      <vt:lpstr>Proposed Solution</vt:lpstr>
      <vt:lpstr>PowerPoint Presentation</vt:lpstr>
      <vt:lpstr>PowerPoint Presentation</vt:lpstr>
      <vt:lpstr>System  Approach</vt:lpstr>
      <vt:lpstr>Algorithm &amp; Deployment</vt:lpstr>
      <vt:lpstr>PowerPoint Presentation</vt:lpstr>
      <vt:lpstr>Result</vt:lpstr>
      <vt:lpstr>PowerPoint Presentation</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karthiga</dc:creator>
  <cp:lastModifiedBy>user</cp:lastModifiedBy>
  <cp:revision>15</cp:revision>
  <dcterms:created xsi:type="dcterms:W3CDTF">2013-07-15T20:26:40Z</dcterms:created>
  <dcterms:modified xsi:type="dcterms:W3CDTF">2025-07-11T06:59:13Z</dcterms:modified>
</cp:coreProperties>
</file>